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开场只强调一个问题：Browser 只表达打开 URL 的意图，谁来完成剩余工作？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v1.0 的验收标准：业务代码只有 open 与 run，协议由事件自动推进。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先让观众建立空间感：DNS 挂在 R2，Web 位于 R3 后面的独立子网。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每一层只理解自己的头部；payload 对这一层来说只是需要继续传递的内容。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的六个状态对应一次 open 生命周期；DNS、TCP、HTTP 回调触发状态迁移。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发现 DNS 不在本地子网，因此先 ARP 默认网关。每个新链路都遵循同样规则。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 和 FIN 都消耗一个序号，因此客户端第一个数据字节从 10001 开始。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 GET 的 75 字节在 R2:eth1 被故意丢弃；RTO 到期后 TCP 重传同一个未确认段。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保存并渲染 200 OK 响应，然后主动进入 Closing，把四次挥手纳入完整验收。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链路延迟产生 FrameArrival，TCP 产生 Timer；模拟时间直接跳到下一个事件，无需真实等待。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结尾回到最初问题：v1.0 的价值不是新协议，而是让所有旧版本在同一个应用动作中协作。</a:t>
            </a:r>
          </a:p>
          <a:p>
            <a:r>
              <a:t>[Sources]</a:t>
            </a:r>
          </a:p>
          <a:p>
            <a:r>
              <a:t>- D:/10_Work/01_University/05_TinyNet/docs/v1.0-mini-internet-browser.md</a:t>
            </a:r>
          </a:p>
          <a:p>
            <a:r>
              <a:t>- D:/10_Work/01_University/05_TinyNet/src/demo.rs</a:t>
            </a:r>
          </a:p>
          <a:p>
            <a:r>
              <a:t>- D:/10_Work/01_University/05_TinyNet/src/internet.rs</a:t>
            </a:r>
          </a:p>
          <a:p>
            <a:r>
              <a:t>- D:/10_Work/01_University/05_TinyNet/src/network.rs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cover-kicker"/>
          <p:cNvSpPr>
            <a:spLocks noGrp="1"/>
          </p:cNvSpPr>
          <p:nvPr/>
        </p:nvSpPr>
        <p:spPr>
          <a:xfrm>
            <a:off x="552450" y="523875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TinyNet v1.0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-title"/>
          <p:cNvSpPr>
            <a:spLocks noGrp="1"/>
          </p:cNvSpPr>
          <p:nvPr/>
        </p:nvSpPr>
        <p:spPr>
          <a:xfrm>
            <a:off x="552450" y="1381125"/>
            <a:ext cx="509587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 open，</a:t>
            </a:r>
            <a:endParaRPr sz="43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走完整个互联网</a:t>
            </a:r>
            <a:endParaRPr sz="43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-sub"/>
          <p:cNvSpPr>
            <a:spLocks noGrp="1"/>
          </p:cNvSpPr>
          <p:nvPr/>
        </p:nvSpPr>
        <p:spPr>
          <a:xfrm>
            <a:off x="552450" y="36385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→ DNS → TCP → HTTP → Close</a:t>
            </a:r>
            <a:endParaRPr sz="18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-code"/>
          <p:cNvSpPr>
            <a:spLocks noGrp="1"/>
          </p:cNvSpPr>
          <p:nvPr/>
        </p:nvSpPr>
        <p:spPr>
          <a:xfrm>
            <a:off x="552450" y="487680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browser.open(URL)</a:t>
            </a:r>
            <a:endParaRPr sz="22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hero-bg"/>
          <p:cNvSpPr>
            <a:spLocks noGrp="1"/>
          </p:cNvSpPr>
          <p:nvPr/>
        </p:nvSpPr>
        <p:spPr>
          <a:xfrm>
            <a:off x="6191250" y="428625"/>
            <a:ext cx="5448300" cy="5810250"/>
          </a:xfrm>
          <a:prstGeom prst="roundRect">
            <a:avLst>
              <a:gd name="adj" fmla="val 1399"/>
            </a:avLst>
          </a:prstGeom>
          <a:solidFill>
            <a:srgbClr val="ECF8FD"/>
          </a:solidFill>
          <a:ln w="0">
            <a:solidFill>
              <a:srgbClr val="ECF8FD"/>
            </a:solidFill>
            <a:prstDash val="solid"/>
          </a:ln>
        </p:spPr>
      </p:sp>
      <p:cxnSp>
        <p:nvCxnSpPr>
          <p:cNvPr id="26" name="hero-path-1"/>
          <p:cNvCxnSpPr/>
          <p:nvPr/>
        </p:nvCxnSpPr>
        <p:spPr>
          <a:xfrm>
            <a:off x="6838950" y="3381375"/>
            <a:ext cx="3952875" cy="0"/>
          </a:xfrm>
          <a:prstGeom prst="straightConnector1">
            <a:avLst/>
          </a:prstGeom>
          <a:ln w="76200">
            <a:solidFill>
              <a:srgbClr val="3D8DFF"/>
            </a:solidFill>
            <a:prstDash val="solid"/>
          </a:ln>
        </p:spPr>
      </p:cxnSp>
      <p:cxnSp>
        <p:nvCxnSpPr>
          <p:cNvPr id="27" name="hero-path-2"/>
          <p:cNvCxnSpPr/>
          <p:nvPr/>
        </p:nvCxnSpPr>
        <p:spPr>
          <a:xfrm>
            <a:off x="8782050" y="1952625"/>
            <a:ext cx="0" cy="1428750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8" name="hero-browser"/>
          <p:cNvSpPr>
            <a:spLocks noGrp="1"/>
          </p:cNvSpPr>
          <p:nvPr/>
        </p:nvSpPr>
        <p:spPr>
          <a:xfrm>
            <a:off x="6496050" y="29718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9" name="hero-browser-text"/>
          <p:cNvSpPr>
            <a:spLocks noGrp="1"/>
          </p:cNvSpPr>
          <p:nvPr/>
        </p:nvSpPr>
        <p:spPr>
          <a:xfrm>
            <a:off x="6648450" y="31051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4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4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hero-router-0"/>
          <p:cNvSpPr>
            <a:spLocks noGrp="1"/>
          </p:cNvSpPr>
          <p:nvPr/>
        </p:nvSpPr>
        <p:spPr>
          <a:xfrm>
            <a:off x="7715250" y="3048000"/>
            <a:ext cx="685800" cy="6858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1" name="hero-router-0-text"/>
          <p:cNvSpPr>
            <a:spLocks noGrp="1"/>
          </p:cNvSpPr>
          <p:nvPr/>
        </p:nvSpPr>
        <p:spPr>
          <a:xfrm>
            <a:off x="7810500" y="3190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ero-router-1"/>
          <p:cNvSpPr>
            <a:spLocks noGrp="1"/>
          </p:cNvSpPr>
          <p:nvPr/>
        </p:nvSpPr>
        <p:spPr>
          <a:xfrm>
            <a:off x="8858250" y="3048000"/>
            <a:ext cx="685800" cy="6858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3" name="hero-router-1-text"/>
          <p:cNvSpPr>
            <a:spLocks noGrp="1"/>
          </p:cNvSpPr>
          <p:nvPr/>
        </p:nvSpPr>
        <p:spPr>
          <a:xfrm>
            <a:off x="8953500" y="3190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hero-router-2"/>
          <p:cNvSpPr>
            <a:spLocks noGrp="1"/>
          </p:cNvSpPr>
          <p:nvPr/>
        </p:nvSpPr>
        <p:spPr>
          <a:xfrm>
            <a:off x="10001250" y="3048000"/>
            <a:ext cx="685800" cy="6858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5" name="hero-router-2-text"/>
          <p:cNvSpPr>
            <a:spLocks noGrp="1"/>
          </p:cNvSpPr>
          <p:nvPr/>
        </p:nvSpPr>
        <p:spPr>
          <a:xfrm>
            <a:off x="10096500" y="3190875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ero-web"/>
          <p:cNvSpPr>
            <a:spLocks noGrp="1"/>
          </p:cNvSpPr>
          <p:nvPr/>
        </p:nvSpPr>
        <p:spPr>
          <a:xfrm>
            <a:off x="10763250" y="2914650"/>
            <a:ext cx="685800" cy="9334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8575">
            <a:solidFill>
              <a:srgbClr val="21A179"/>
            </a:solidFill>
            <a:prstDash val="solid"/>
          </a:ln>
        </p:spPr>
      </p:sp>
      <p:sp>
        <p:nvSpPr>
          <p:cNvPr id="17" name="hero-web-text"/>
          <p:cNvSpPr>
            <a:spLocks noGrp="1"/>
          </p:cNvSpPr>
          <p:nvPr/>
        </p:nvSpPr>
        <p:spPr>
          <a:xfrm>
            <a:off x="10829925" y="3190875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618"/>
          </a:bodyPr>
          <a:lstStyle/>
          <a:p>
            <a:pPr algn="ctr">
              <a:def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endParaRPr sz="1425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hero-dns"/>
          <p:cNvSpPr>
            <a:spLocks noGrp="1"/>
          </p:cNvSpPr>
          <p:nvPr/>
        </p:nvSpPr>
        <p:spPr>
          <a:xfrm>
            <a:off x="8372475" y="1409700"/>
            <a:ext cx="838200" cy="838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D8DFF"/>
            </a:solidFill>
            <a:prstDash val="solid"/>
          </a:ln>
        </p:spPr>
      </p:sp>
      <p:sp>
        <p:nvSpPr>
          <p:cNvPr id="19" name="hero-dns-text"/>
          <p:cNvSpPr>
            <a:spLocks noGrp="1"/>
          </p:cNvSpPr>
          <p:nvPr/>
        </p:nvSpPr>
        <p:spPr>
          <a:xfrm>
            <a:off x="8467725" y="1638300"/>
            <a:ext cx="64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</a:t>
            </a:r>
            <a:endParaRPr sz="15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hero-caption"/>
          <p:cNvSpPr>
            <a:spLocks noGrp="1"/>
          </p:cNvSpPr>
          <p:nvPr/>
        </p:nvSpPr>
        <p:spPr>
          <a:xfrm>
            <a:off x="7191375" y="51435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一个应用意图 · 七层协作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title-2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一行代码，唤醒整条协议链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2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de-open"/>
          <p:cNvSpPr>
            <a:spLocks noGrp="1"/>
          </p:cNvSpPr>
          <p:nvPr/>
        </p:nvSpPr>
        <p:spPr>
          <a:xfrm>
            <a:off x="857250" y="138112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browser.open("http://www.tinynet.com/index.html")</a:t>
            </a:r>
            <a:endParaRPr sz="22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hain-arrow-0"/>
          <p:cNvSpPr>
            <a:spLocks noGrp="1"/>
          </p:cNvSpPr>
          <p:nvPr/>
        </p:nvSpPr>
        <p:spPr>
          <a:xfrm>
            <a:off x="2066925" y="3667125"/>
            <a:ext cx="43815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5" name="chain-node-0"/>
          <p:cNvSpPr>
            <a:spLocks noGrp="1"/>
          </p:cNvSpPr>
          <p:nvPr/>
        </p:nvSpPr>
        <p:spPr>
          <a:xfrm>
            <a:off x="714375" y="3143250"/>
            <a:ext cx="1257300" cy="1257300"/>
          </a:xfrm>
          <a:prstGeom prst="ellipse">
            <a:avLst/>
          </a:prstGeom>
          <a:solidFill>
            <a:srgbClr val="ECF8FD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6" name="chain-label-0"/>
          <p:cNvSpPr>
            <a:spLocks noGrp="1"/>
          </p:cNvSpPr>
          <p:nvPr/>
        </p:nvSpPr>
        <p:spPr>
          <a:xfrm>
            <a:off x="79057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hain-arrow-1"/>
          <p:cNvSpPr>
            <a:spLocks noGrp="1"/>
          </p:cNvSpPr>
          <p:nvPr/>
        </p:nvSpPr>
        <p:spPr>
          <a:xfrm>
            <a:off x="3914775" y="3667125"/>
            <a:ext cx="43815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8" name="chain-node-1"/>
          <p:cNvSpPr>
            <a:spLocks noGrp="1"/>
          </p:cNvSpPr>
          <p:nvPr/>
        </p:nvSpPr>
        <p:spPr>
          <a:xfrm>
            <a:off x="2562225" y="3143250"/>
            <a:ext cx="1257300" cy="1257300"/>
          </a:xfrm>
          <a:prstGeom prst="hexagon">
            <a:avLst/>
          </a:prstGeom>
          <a:solidFill>
            <a:srgbClr val="ECF8FD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9" name="chain-label-1"/>
          <p:cNvSpPr>
            <a:spLocks noGrp="1"/>
          </p:cNvSpPr>
          <p:nvPr/>
        </p:nvSpPr>
        <p:spPr>
          <a:xfrm>
            <a:off x="263842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ARP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hain-arrow-2"/>
          <p:cNvSpPr>
            <a:spLocks noGrp="1"/>
          </p:cNvSpPr>
          <p:nvPr/>
        </p:nvSpPr>
        <p:spPr>
          <a:xfrm>
            <a:off x="5762625" y="3667125"/>
            <a:ext cx="43815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chain-node-2"/>
          <p:cNvSpPr>
            <a:spLocks noGrp="1"/>
          </p:cNvSpPr>
          <p:nvPr/>
        </p:nvSpPr>
        <p:spPr>
          <a:xfrm>
            <a:off x="4410075" y="3143250"/>
            <a:ext cx="1257300" cy="1257300"/>
          </a:xfrm>
          <a:prstGeom prst="ellipse">
            <a:avLst/>
          </a:prstGeom>
          <a:solidFill>
            <a:srgbClr val="EEF1F4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2" name="chain-label-2"/>
          <p:cNvSpPr>
            <a:spLocks noGrp="1"/>
          </p:cNvSpPr>
          <p:nvPr/>
        </p:nvSpPr>
        <p:spPr>
          <a:xfrm>
            <a:off x="448627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ain-arrow-3"/>
          <p:cNvSpPr>
            <a:spLocks noGrp="1"/>
          </p:cNvSpPr>
          <p:nvPr/>
        </p:nvSpPr>
        <p:spPr>
          <a:xfrm>
            <a:off x="7610475" y="3667125"/>
            <a:ext cx="43815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4" name="chain-node-3"/>
          <p:cNvSpPr>
            <a:spLocks noGrp="1"/>
          </p:cNvSpPr>
          <p:nvPr/>
        </p:nvSpPr>
        <p:spPr>
          <a:xfrm>
            <a:off x="6257925" y="3143250"/>
            <a:ext cx="1257300" cy="1257300"/>
          </a:xfrm>
          <a:prstGeom prst="hexagon">
            <a:avLst/>
          </a:prstGeom>
          <a:solidFill>
            <a:srgbClr val="DDF6EE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5" name="chain-label-3"/>
          <p:cNvSpPr>
            <a:spLocks noGrp="1"/>
          </p:cNvSpPr>
          <p:nvPr/>
        </p:nvSpPr>
        <p:spPr>
          <a:xfrm>
            <a:off x="633412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TCP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ain-arrow-4"/>
          <p:cNvSpPr>
            <a:spLocks noGrp="1"/>
          </p:cNvSpPr>
          <p:nvPr/>
        </p:nvSpPr>
        <p:spPr>
          <a:xfrm>
            <a:off x="9458325" y="3667125"/>
            <a:ext cx="43815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7" name="chain-node-4"/>
          <p:cNvSpPr>
            <a:spLocks noGrp="1"/>
          </p:cNvSpPr>
          <p:nvPr/>
        </p:nvSpPr>
        <p:spPr>
          <a:xfrm>
            <a:off x="8105775" y="3143250"/>
            <a:ext cx="1257300" cy="1257300"/>
          </a:xfrm>
          <a:prstGeom prst="ellipse">
            <a:avLst/>
          </a:prstGeom>
          <a:solidFill>
            <a:srgbClr val="FFF1D6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8" name="chain-label-4"/>
          <p:cNvSpPr>
            <a:spLocks noGrp="1"/>
          </p:cNvSpPr>
          <p:nvPr/>
        </p:nvSpPr>
        <p:spPr>
          <a:xfrm>
            <a:off x="818197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ain-node-5"/>
          <p:cNvSpPr>
            <a:spLocks noGrp="1"/>
          </p:cNvSpPr>
          <p:nvPr/>
        </p:nvSpPr>
        <p:spPr>
          <a:xfrm>
            <a:off x="9953625" y="3143250"/>
            <a:ext cx="1257300" cy="1257300"/>
          </a:xfrm>
          <a:prstGeom prst="hexagon">
            <a:avLst/>
          </a:prstGeom>
          <a:solidFill>
            <a:srgbClr val="FDE7E8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20" name="chain-label-5"/>
          <p:cNvSpPr>
            <a:spLocks noGrp="1"/>
          </p:cNvSpPr>
          <p:nvPr/>
        </p:nvSpPr>
        <p:spPr>
          <a:xfrm>
            <a:off x="10029825" y="3524250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ain-caption"/>
          <p:cNvSpPr>
            <a:spLocks noGrp="1"/>
          </p:cNvSpPr>
          <p:nvPr/>
        </p:nvSpPr>
        <p:spPr>
          <a:xfrm>
            <a:off x="3333750" y="5095875"/>
            <a:ext cx="552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不再手动推进协议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title-3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与 Web 相隔三台 Router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3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topology-main"/>
          <p:cNvCxnSpPr/>
          <p:nvPr/>
        </p:nvCxnSpPr>
        <p:spPr>
          <a:xfrm>
            <a:off x="1285875" y="3286125"/>
            <a:ext cx="9525000" cy="0"/>
          </a:xfrm>
          <a:prstGeom prst="straightConnector1">
            <a:avLst/>
          </a:prstGeom>
          <a:ln w="38100">
            <a:solidFill>
              <a:srgbClr val="111827"/>
            </a:solidFill>
            <a:prstDash val="solid"/>
          </a:ln>
        </p:spPr>
      </p:cxnSp>
      <p:cxnSp>
        <p:nvCxnSpPr>
          <p:cNvPr id="29" name="topology-dns-link"/>
          <p:cNvCxnSpPr/>
          <p:nvPr/>
        </p:nvCxnSpPr>
        <p:spPr>
          <a:xfrm>
            <a:off x="7169785" y="3286125"/>
            <a:ext cx="0" cy="171450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5" name="browser"/>
          <p:cNvSpPr>
            <a:spLocks noGrp="1"/>
          </p:cNvSpPr>
          <p:nvPr/>
        </p:nvSpPr>
        <p:spPr>
          <a:xfrm>
            <a:off x="523875" y="2809875"/>
            <a:ext cx="1524000" cy="952500"/>
          </a:xfrm>
          <a:prstGeom prst="roundRect">
            <a:avLst>
              <a:gd name="adj" fmla="val 8000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6" name="browser-label"/>
          <p:cNvSpPr>
            <a:spLocks noGrp="1"/>
          </p:cNvSpPr>
          <p:nvPr/>
        </p:nvSpPr>
        <p:spPr>
          <a:xfrm>
            <a:off x="600075" y="292417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rowser-sub"/>
          <p:cNvSpPr>
            <a:spLocks noGrp="1"/>
          </p:cNvSpPr>
          <p:nvPr/>
        </p:nvSpPr>
        <p:spPr>
          <a:xfrm>
            <a:off x="600075" y="3286125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192.168.1.2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1"/>
          <p:cNvSpPr>
            <a:spLocks noGrp="1"/>
          </p:cNvSpPr>
          <p:nvPr/>
        </p:nvSpPr>
        <p:spPr>
          <a:xfrm>
            <a:off x="2857500" y="2905125"/>
            <a:ext cx="1238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9" name="r1-label"/>
          <p:cNvSpPr>
            <a:spLocks noGrp="1"/>
          </p:cNvSpPr>
          <p:nvPr/>
        </p:nvSpPr>
        <p:spPr>
          <a:xfrm>
            <a:off x="2933700" y="30194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1-sub"/>
          <p:cNvSpPr>
            <a:spLocks noGrp="1"/>
          </p:cNvSpPr>
          <p:nvPr/>
        </p:nvSpPr>
        <p:spPr>
          <a:xfrm>
            <a:off x="2933700" y="3381375"/>
            <a:ext cx="1085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10.0.12.1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2"/>
          <p:cNvSpPr>
            <a:spLocks noGrp="1"/>
          </p:cNvSpPr>
          <p:nvPr/>
        </p:nvSpPr>
        <p:spPr>
          <a:xfrm>
            <a:off x="5334000" y="2905125"/>
            <a:ext cx="1238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2" name="r2-label"/>
          <p:cNvSpPr>
            <a:spLocks noGrp="1"/>
          </p:cNvSpPr>
          <p:nvPr/>
        </p:nvSpPr>
        <p:spPr>
          <a:xfrm>
            <a:off x="5410200" y="30194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2-sub"/>
          <p:cNvSpPr>
            <a:spLocks noGrp="1"/>
          </p:cNvSpPr>
          <p:nvPr/>
        </p:nvSpPr>
        <p:spPr>
          <a:xfrm>
            <a:off x="5410200" y="3381375"/>
            <a:ext cx="1085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10.0.23.1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3"/>
          <p:cNvSpPr>
            <a:spLocks noGrp="1"/>
          </p:cNvSpPr>
          <p:nvPr/>
        </p:nvSpPr>
        <p:spPr>
          <a:xfrm>
            <a:off x="7810500" y="2905125"/>
            <a:ext cx="1238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5" name="r3-label"/>
          <p:cNvSpPr>
            <a:spLocks noGrp="1"/>
          </p:cNvSpPr>
          <p:nvPr/>
        </p:nvSpPr>
        <p:spPr>
          <a:xfrm>
            <a:off x="7886700" y="3019425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3-sub"/>
          <p:cNvSpPr>
            <a:spLocks noGrp="1"/>
          </p:cNvSpPr>
          <p:nvPr/>
        </p:nvSpPr>
        <p:spPr>
          <a:xfrm>
            <a:off x="7886700" y="3381375"/>
            <a:ext cx="1085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10.0.3.1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eb"/>
          <p:cNvSpPr>
            <a:spLocks noGrp="1"/>
          </p:cNvSpPr>
          <p:nvPr/>
        </p:nvSpPr>
        <p:spPr>
          <a:xfrm>
            <a:off x="10096500" y="2809875"/>
            <a:ext cx="1524000" cy="952500"/>
          </a:xfrm>
          <a:prstGeom prst="roundRect">
            <a:avLst>
              <a:gd name="adj" fmla="val 8000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18" name="web-label"/>
          <p:cNvSpPr>
            <a:spLocks noGrp="1"/>
          </p:cNvSpPr>
          <p:nvPr/>
        </p:nvSpPr>
        <p:spPr>
          <a:xfrm>
            <a:off x="10172700" y="2924175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web-sub"/>
          <p:cNvSpPr>
            <a:spLocks noGrp="1"/>
          </p:cNvSpPr>
          <p:nvPr/>
        </p:nvSpPr>
        <p:spPr>
          <a:xfrm>
            <a:off x="10172700" y="3286125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10.0.3.2:80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ns"/>
          <p:cNvSpPr>
            <a:spLocks noGrp="1"/>
          </p:cNvSpPr>
          <p:nvPr/>
        </p:nvSpPr>
        <p:spPr>
          <a:xfrm>
            <a:off x="6455410" y="4810125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21" name="dns-label"/>
          <p:cNvSpPr>
            <a:spLocks noGrp="1"/>
          </p:cNvSpPr>
          <p:nvPr/>
        </p:nvSpPr>
        <p:spPr>
          <a:xfrm>
            <a:off x="6531610" y="4924425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dns-sub"/>
          <p:cNvSpPr>
            <a:spLocks noGrp="1"/>
          </p:cNvSpPr>
          <p:nvPr/>
        </p:nvSpPr>
        <p:spPr>
          <a:xfrm>
            <a:off x="6531610" y="5286375"/>
            <a:ext cx="1276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10.0.53.53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link-delay"/>
          <p:cNvSpPr>
            <a:spLocks noGrp="1"/>
          </p:cNvSpPr>
          <p:nvPr/>
        </p:nvSpPr>
        <p:spPr>
          <a:xfrm>
            <a:off x="5048250" y="1381125"/>
            <a:ext cx="2095500" cy="400050"/>
          </a:xfrm>
          <a:prstGeom prst="roundRect">
            <a:avLst>
              <a:gd name="adj" fmla="val 19048"/>
            </a:avLst>
          </a:prstGeom>
          <a:solidFill>
            <a:srgbClr val="EEF1F4"/>
          </a:solidFill>
          <a:ln w="0">
            <a:solidFill>
              <a:srgbClr val="EEF1F4"/>
            </a:solidFill>
            <a:prstDash val="solid"/>
          </a:ln>
        </p:spPr>
      </p:sp>
      <p:sp>
        <p:nvSpPr>
          <p:cNvPr id="24" name="link-delay-text"/>
          <p:cNvSpPr>
            <a:spLocks noGrp="1"/>
          </p:cNvSpPr>
          <p:nvPr/>
        </p:nvSpPr>
        <p:spPr>
          <a:xfrm>
            <a:off x="5124450" y="1419225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每跳 5 ms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opology-rule"/>
          <p:cNvSpPr>
            <a:spLocks noGrp="1"/>
          </p:cNvSpPr>
          <p:nvPr/>
        </p:nvSpPr>
        <p:spPr>
          <a:xfrm>
            <a:off x="3048000" y="60007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436"/>
          </a:bodyPr>
          <a:lstStyle/>
          <a:p>
            <a:pPr algn="ctr"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 端到端不变    ·    MAC 每一跳重写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-4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发送时逐层套壳，接收时逐层拆壳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4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ayer-0"/>
          <p:cNvSpPr>
            <a:spLocks noGrp="1"/>
          </p:cNvSpPr>
          <p:nvPr/>
        </p:nvSpPr>
        <p:spPr>
          <a:xfrm>
            <a:off x="3810000" y="1524000"/>
            <a:ext cx="4572000" cy="800100"/>
          </a:xfrm>
          <a:prstGeom prst="roundRect">
            <a:avLst>
              <a:gd name="adj" fmla="val 9524"/>
            </a:avLst>
          </a:prstGeom>
          <a:solidFill>
            <a:srgbClr val="FFF1D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layer-0-label"/>
          <p:cNvSpPr>
            <a:spLocks noGrp="1"/>
          </p:cNvSpPr>
          <p:nvPr/>
        </p:nvSpPr>
        <p:spPr>
          <a:xfrm>
            <a:off x="4038600" y="16668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</a:t>
            </a:r>
            <a:endParaRPr sz="19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ayer-0-sub"/>
          <p:cNvSpPr>
            <a:spLocks noGrp="1"/>
          </p:cNvSpPr>
          <p:nvPr/>
        </p:nvSpPr>
        <p:spPr>
          <a:xfrm>
            <a:off x="6000750" y="1666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/index.html</a:t>
            </a:r>
            <a:endParaRPr sz="16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ayer-1"/>
          <p:cNvSpPr>
            <a:spLocks noGrp="1"/>
          </p:cNvSpPr>
          <p:nvPr/>
        </p:nvSpPr>
        <p:spPr>
          <a:xfrm>
            <a:off x="3143250" y="2552700"/>
            <a:ext cx="5905500" cy="800100"/>
          </a:xfrm>
          <a:prstGeom prst="roundRect">
            <a:avLst>
              <a:gd name="adj" fmla="val 9524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7" name="layer-1-label"/>
          <p:cNvSpPr>
            <a:spLocks noGrp="1"/>
          </p:cNvSpPr>
          <p:nvPr/>
        </p:nvSpPr>
        <p:spPr>
          <a:xfrm>
            <a:off x="3371850" y="26955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TCP</a:t>
            </a:r>
            <a:endParaRPr sz="195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ayer-1-sub"/>
          <p:cNvSpPr>
            <a:spLocks noGrp="1"/>
          </p:cNvSpPr>
          <p:nvPr/>
        </p:nvSpPr>
        <p:spPr>
          <a:xfrm>
            <a:off x="5334000" y="2695575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 · ACK · Port</a:t>
            </a:r>
            <a:endParaRPr sz="16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ayer-2"/>
          <p:cNvSpPr>
            <a:spLocks noGrp="1"/>
          </p:cNvSpPr>
          <p:nvPr/>
        </p:nvSpPr>
        <p:spPr>
          <a:xfrm>
            <a:off x="2476500" y="3581400"/>
            <a:ext cx="7239000" cy="800100"/>
          </a:xfrm>
          <a:prstGeom prst="roundRect">
            <a:avLst>
              <a:gd name="adj" fmla="val 9524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0" name="layer-2-label"/>
          <p:cNvSpPr>
            <a:spLocks noGrp="1"/>
          </p:cNvSpPr>
          <p:nvPr/>
        </p:nvSpPr>
        <p:spPr>
          <a:xfrm>
            <a:off x="2705100" y="37242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endParaRPr sz="19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layer-2-sub"/>
          <p:cNvSpPr>
            <a:spLocks noGrp="1"/>
          </p:cNvSpPr>
          <p:nvPr/>
        </p:nvSpPr>
        <p:spPr>
          <a:xfrm>
            <a:off x="4667250" y="3724275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Src · Dst · TTL</a:t>
            </a:r>
            <a:endParaRPr sz="16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layer-3"/>
          <p:cNvSpPr>
            <a:spLocks noGrp="1"/>
          </p:cNvSpPr>
          <p:nvPr/>
        </p:nvSpPr>
        <p:spPr>
          <a:xfrm>
            <a:off x="1809750" y="4610100"/>
            <a:ext cx="8572500" cy="800100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3" name="layer-3-label"/>
          <p:cNvSpPr>
            <a:spLocks noGrp="1"/>
          </p:cNvSpPr>
          <p:nvPr/>
        </p:nvSpPr>
        <p:spPr>
          <a:xfrm>
            <a:off x="2038350" y="4752975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ayer-3-sub"/>
          <p:cNvSpPr>
            <a:spLocks noGrp="1"/>
          </p:cNvSpPr>
          <p:nvPr/>
        </p:nvSpPr>
        <p:spPr>
          <a:xfrm>
            <a:off x="4000500" y="4752975"/>
            <a:ext cx="609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Src MAC · Dst MAC</a:t>
            </a:r>
            <a:endParaRPr sz="165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ncap-down"/>
          <p:cNvSpPr>
            <a:spLocks noGrp="1"/>
          </p:cNvSpPr>
          <p:nvPr/>
        </p:nvSpPr>
        <p:spPr>
          <a:xfrm>
            <a:off x="9624060" y="2708910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 ↓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ncap-up"/>
          <p:cNvSpPr>
            <a:spLocks noGrp="1"/>
          </p:cNvSpPr>
          <p:nvPr/>
        </p:nvSpPr>
        <p:spPr>
          <a:xfrm>
            <a:off x="10084435" y="3429000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↑ 解封装</a:t>
            </a:r>
            <a:endParaRPr sz="165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title-5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只等待事件，不轮询网络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5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tate-arrow-0"/>
          <p:cNvSpPr>
            <a:spLocks noGrp="1"/>
          </p:cNvSpPr>
          <p:nvPr/>
        </p:nvSpPr>
        <p:spPr>
          <a:xfrm>
            <a:off x="1809750" y="3143250"/>
            <a:ext cx="45720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4" name="state-0"/>
          <p:cNvSpPr>
            <a:spLocks noGrp="1"/>
          </p:cNvSpPr>
          <p:nvPr/>
        </p:nvSpPr>
        <p:spPr>
          <a:xfrm>
            <a:off x="428625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EEF1F4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5" name="state-text-0"/>
          <p:cNvSpPr>
            <a:spLocks noGrp="1"/>
          </p:cNvSpPr>
          <p:nvPr/>
        </p:nvSpPr>
        <p:spPr>
          <a:xfrm>
            <a:off x="504825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Idle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-arrow-1"/>
          <p:cNvSpPr>
            <a:spLocks noGrp="1"/>
          </p:cNvSpPr>
          <p:nvPr/>
        </p:nvSpPr>
        <p:spPr>
          <a:xfrm>
            <a:off x="3762375" y="3143250"/>
            <a:ext cx="45720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state-1"/>
          <p:cNvSpPr>
            <a:spLocks noGrp="1"/>
          </p:cNvSpPr>
          <p:nvPr/>
        </p:nvSpPr>
        <p:spPr>
          <a:xfrm>
            <a:off x="2381250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ECF8FD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8" name="state-text-1"/>
          <p:cNvSpPr>
            <a:spLocks noGrp="1"/>
          </p:cNvSpPr>
          <p:nvPr/>
        </p:nvSpPr>
        <p:spPr>
          <a:xfrm>
            <a:off x="2457450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Resolving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ate-arrow-2"/>
          <p:cNvSpPr>
            <a:spLocks noGrp="1"/>
          </p:cNvSpPr>
          <p:nvPr/>
        </p:nvSpPr>
        <p:spPr>
          <a:xfrm>
            <a:off x="5715000" y="3143250"/>
            <a:ext cx="45720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0" name="state-2"/>
          <p:cNvSpPr>
            <a:spLocks noGrp="1"/>
          </p:cNvSpPr>
          <p:nvPr/>
        </p:nvSpPr>
        <p:spPr>
          <a:xfrm>
            <a:off x="4333875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DDF6EE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1" name="state-text-2"/>
          <p:cNvSpPr>
            <a:spLocks noGrp="1"/>
          </p:cNvSpPr>
          <p:nvPr/>
        </p:nvSpPr>
        <p:spPr>
          <a:xfrm>
            <a:off x="4410075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193"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Connecting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ate-arrow-3"/>
          <p:cNvSpPr>
            <a:spLocks noGrp="1"/>
          </p:cNvSpPr>
          <p:nvPr/>
        </p:nvSpPr>
        <p:spPr>
          <a:xfrm>
            <a:off x="7667625" y="3143250"/>
            <a:ext cx="457200" cy="22860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3" name="state-3"/>
          <p:cNvSpPr>
            <a:spLocks noGrp="1"/>
          </p:cNvSpPr>
          <p:nvPr/>
        </p:nvSpPr>
        <p:spPr>
          <a:xfrm>
            <a:off x="6286500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FFF1D6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4" name="state-text-3"/>
          <p:cNvSpPr>
            <a:spLocks noGrp="1"/>
          </p:cNvSpPr>
          <p:nvPr/>
        </p:nvSpPr>
        <p:spPr>
          <a:xfrm>
            <a:off x="6362700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Requesting</a:t>
            </a:r>
            <a:endParaRPr sz="13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tate-arrow-4"/>
          <p:cNvSpPr>
            <a:spLocks noGrp="1"/>
          </p:cNvSpPr>
          <p:nvPr/>
        </p:nvSpPr>
        <p:spPr>
          <a:xfrm>
            <a:off x="9620250" y="3143250"/>
            <a:ext cx="457200" cy="228600"/>
          </a:xfrm>
          <a:prstGeom prst="rightArrow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16" name="state-4"/>
          <p:cNvSpPr>
            <a:spLocks noGrp="1"/>
          </p:cNvSpPr>
          <p:nvPr/>
        </p:nvSpPr>
        <p:spPr>
          <a:xfrm>
            <a:off x="8239125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FDE7E8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7" name="state-text-4"/>
          <p:cNvSpPr>
            <a:spLocks noGrp="1"/>
          </p:cNvSpPr>
          <p:nvPr/>
        </p:nvSpPr>
        <p:spPr>
          <a:xfrm>
            <a:off x="8315325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Closing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ate-5"/>
          <p:cNvSpPr>
            <a:spLocks noGrp="1"/>
          </p:cNvSpPr>
          <p:nvPr/>
        </p:nvSpPr>
        <p:spPr>
          <a:xfrm>
            <a:off x="10191750" y="2667000"/>
            <a:ext cx="1381125" cy="1162050"/>
          </a:xfrm>
          <a:prstGeom prst="roundRect">
            <a:avLst>
              <a:gd name="adj" fmla="val 6557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19" name="state-text-5"/>
          <p:cNvSpPr>
            <a:spLocks noGrp="1"/>
          </p:cNvSpPr>
          <p:nvPr/>
        </p:nvSpPr>
        <p:spPr>
          <a:xfrm>
            <a:off x="10267950" y="3000375"/>
            <a:ext cx="1228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</a:t>
            </a:r>
            <a:endParaRPr sz="1575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vent-0"/>
          <p:cNvSpPr>
            <a:spLocks noGrp="1"/>
          </p:cNvSpPr>
          <p:nvPr/>
        </p:nvSpPr>
        <p:spPr>
          <a:xfrm>
            <a:off x="1543050" y="4000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vent-1"/>
          <p:cNvSpPr>
            <a:spLocks noGrp="1"/>
          </p:cNvSpPr>
          <p:nvPr/>
        </p:nvSpPr>
        <p:spPr>
          <a:xfrm>
            <a:off x="3495675" y="4000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vent-2"/>
          <p:cNvSpPr>
            <a:spLocks noGrp="1"/>
          </p:cNvSpPr>
          <p:nvPr/>
        </p:nvSpPr>
        <p:spPr>
          <a:xfrm>
            <a:off x="5448300" y="4000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SYN+ACK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vent-3"/>
          <p:cNvSpPr>
            <a:spLocks noGrp="1"/>
          </p:cNvSpPr>
          <p:nvPr/>
        </p:nvSpPr>
        <p:spPr>
          <a:xfrm>
            <a:off x="7400925" y="4000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200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vent-4"/>
          <p:cNvSpPr>
            <a:spLocks noGrp="1"/>
          </p:cNvSpPr>
          <p:nvPr/>
        </p:nvSpPr>
        <p:spPr>
          <a:xfrm>
            <a:off x="9353550" y="40005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FIN/ACK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tate-caption"/>
          <p:cNvSpPr>
            <a:spLocks noGrp="1"/>
          </p:cNvSpPr>
          <p:nvPr/>
        </p:nvSpPr>
        <p:spPr>
          <a:xfrm>
            <a:off x="3667125" y="5095875"/>
            <a:ext cx="485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事件到达 → 产生下一步动作</a:t>
            </a:r>
            <a:endParaRPr sz="22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itle-6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先问“它在哪”，再问“下一跳是谁”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6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ns-b"/>
          <p:cNvSpPr>
            <a:spLocks noGrp="1"/>
          </p:cNvSpPr>
          <p:nvPr/>
        </p:nvSpPr>
        <p:spPr>
          <a:xfrm>
            <a:off x="666750" y="247650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4" name="dns-b-label"/>
          <p:cNvSpPr>
            <a:spLocks noGrp="1"/>
          </p:cNvSpPr>
          <p:nvPr/>
        </p:nvSpPr>
        <p:spPr>
          <a:xfrm>
            <a:off x="742950" y="2590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ns-b-sub"/>
          <p:cNvSpPr>
            <a:spLocks noGrp="1"/>
          </p:cNvSpPr>
          <p:nvPr/>
        </p:nvSpPr>
        <p:spPr>
          <a:xfrm>
            <a:off x="742950" y="2952750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192.168.1.2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ns-gw"/>
          <p:cNvSpPr>
            <a:spLocks noGrp="1"/>
          </p:cNvSpPr>
          <p:nvPr/>
        </p:nvSpPr>
        <p:spPr>
          <a:xfrm>
            <a:off x="3857625" y="247650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7" name="dns-gw-label"/>
          <p:cNvSpPr>
            <a:spLocks noGrp="1"/>
          </p:cNvSpPr>
          <p:nvPr/>
        </p:nvSpPr>
        <p:spPr>
          <a:xfrm>
            <a:off x="3933825" y="2590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Gateway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ns-gw-sub"/>
          <p:cNvSpPr>
            <a:spLocks noGrp="1"/>
          </p:cNvSpPr>
          <p:nvPr/>
        </p:nvSpPr>
        <p:spPr>
          <a:xfrm>
            <a:off x="3933825" y="2952750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192.168.1.1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ns-r2"/>
          <p:cNvSpPr>
            <a:spLocks noGrp="1"/>
          </p:cNvSpPr>
          <p:nvPr/>
        </p:nvSpPr>
        <p:spPr>
          <a:xfrm>
            <a:off x="7000875" y="2476500"/>
            <a:ext cx="1619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0" name="dns-r2-label"/>
          <p:cNvSpPr>
            <a:spLocks noGrp="1"/>
          </p:cNvSpPr>
          <p:nvPr/>
        </p:nvSpPr>
        <p:spPr>
          <a:xfrm>
            <a:off x="7077075" y="2590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dns-r2-sub"/>
          <p:cNvSpPr>
            <a:spLocks noGrp="1"/>
          </p:cNvSpPr>
          <p:nvPr/>
        </p:nvSpPr>
        <p:spPr>
          <a:xfrm>
            <a:off x="7077075" y="2952750"/>
            <a:ext cx="146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 + ARP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ns-server"/>
          <p:cNvSpPr>
            <a:spLocks noGrp="1"/>
          </p:cNvSpPr>
          <p:nvPr/>
        </p:nvSpPr>
        <p:spPr>
          <a:xfrm>
            <a:off x="10096500" y="2476500"/>
            <a:ext cx="1524000" cy="952500"/>
          </a:xfrm>
          <a:prstGeom prst="roundRect">
            <a:avLst>
              <a:gd name="adj" fmla="val 8000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13" name="dns-server-label"/>
          <p:cNvSpPr>
            <a:spLocks noGrp="1"/>
          </p:cNvSpPr>
          <p:nvPr/>
        </p:nvSpPr>
        <p:spPr>
          <a:xfrm>
            <a:off x="10172700" y="259080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dns-server-sub"/>
          <p:cNvSpPr>
            <a:spLocks noGrp="1"/>
          </p:cNvSpPr>
          <p:nvPr/>
        </p:nvSpPr>
        <p:spPr>
          <a:xfrm>
            <a:off x="10172700" y="295275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10.0.53.53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ns-a1"/>
          <p:cNvSpPr>
            <a:spLocks noGrp="1"/>
          </p:cNvSpPr>
          <p:nvPr/>
        </p:nvSpPr>
        <p:spPr>
          <a:xfrm>
            <a:off x="2428875" y="2819400"/>
            <a:ext cx="1190625" cy="2857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6" name="dns-a2"/>
          <p:cNvSpPr>
            <a:spLocks noGrp="1"/>
          </p:cNvSpPr>
          <p:nvPr/>
        </p:nvSpPr>
        <p:spPr>
          <a:xfrm>
            <a:off x="5619750" y="2819400"/>
            <a:ext cx="1143000" cy="285750"/>
          </a:xfrm>
          <a:prstGeom prst="rightArrow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7" name="dns-a3"/>
          <p:cNvSpPr>
            <a:spLocks noGrp="1"/>
          </p:cNvSpPr>
          <p:nvPr/>
        </p:nvSpPr>
        <p:spPr>
          <a:xfrm>
            <a:off x="8763000" y="2819400"/>
            <a:ext cx="1095375" cy="2857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8" name="dns-arp-label"/>
          <p:cNvSpPr>
            <a:spLocks noGrp="1"/>
          </p:cNvSpPr>
          <p:nvPr/>
        </p:nvSpPr>
        <p:spPr>
          <a:xfrm>
            <a:off x="2619375" y="2333625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ARP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dns-query-label"/>
          <p:cNvSpPr>
            <a:spLocks noGrp="1"/>
          </p:cNvSpPr>
          <p:nvPr/>
        </p:nvSpPr>
        <p:spPr>
          <a:xfrm>
            <a:off x="8858250" y="233362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597"/>
          </a:bodyPr>
          <a:lstStyle/>
          <a:p>
            <a:pPr algn="ctr">
              <a:def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UDP / 53</a:t>
            </a:r>
            <a:endParaRPr sz="1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ns-return"/>
          <p:cNvSpPr>
            <a:spLocks noGrp="1"/>
          </p:cNvSpPr>
          <p:nvPr/>
        </p:nvSpPr>
        <p:spPr>
          <a:xfrm>
            <a:off x="2714625" y="4572635"/>
            <a:ext cx="7000875" cy="266700"/>
          </a:xfrm>
          <a:prstGeom prst="leftArrow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21" name="dns-answer"/>
          <p:cNvSpPr>
            <a:spLocks noGrp="1"/>
          </p:cNvSpPr>
          <p:nvPr/>
        </p:nvSpPr>
        <p:spPr>
          <a:xfrm>
            <a:off x="3619500" y="4191000"/>
            <a:ext cx="514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www.tinynet.com  →  10.0.3.2</a:t>
            </a:r>
            <a:endParaRPr sz="210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dns-caption"/>
          <p:cNvSpPr>
            <a:spLocks noGrp="1"/>
          </p:cNvSpPr>
          <p:nvPr/>
        </p:nvSpPr>
        <p:spPr>
          <a:xfrm>
            <a:off x="3190875" y="5429250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路由表选下一跳 · ARP 找下一跳 MAC</a:t>
            </a:r>
            <a:endParaRPr sz="19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title-7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三次握手：双方都确认收发能力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7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hs-life-b"/>
          <p:cNvCxnSpPr/>
          <p:nvPr/>
        </p:nvCxnSpPr>
        <p:spPr>
          <a:xfrm>
            <a:off x="2381250" y="1524000"/>
            <a:ext cx="0" cy="4095750"/>
          </a:xfrm>
          <a:prstGeom prst="straightConnector1">
            <a:avLst/>
          </a:prstGeom>
          <a:ln w="28575">
            <a:solidFill>
              <a:srgbClr val="111827"/>
            </a:solidFill>
            <a:prstDash val="solid"/>
          </a:ln>
        </p:spPr>
      </p:cxnSp>
      <p:cxnSp>
        <p:nvCxnSpPr>
          <p:cNvPr id="22" name="hs-life-w"/>
          <p:cNvCxnSpPr/>
          <p:nvPr/>
        </p:nvCxnSpPr>
        <p:spPr>
          <a:xfrm>
            <a:off x="9810750" y="1524000"/>
            <a:ext cx="0" cy="4095750"/>
          </a:xfrm>
          <a:prstGeom prst="straightConnector1">
            <a:avLst/>
          </a:prstGeom>
          <a:ln w="28575">
            <a:solidFill>
              <a:srgbClr val="111827"/>
            </a:solidFill>
            <a:prstDash val="solid"/>
          </a:ln>
        </p:spPr>
      </p:cxnSp>
      <p:sp>
        <p:nvSpPr>
          <p:cNvPr id="5" name="hs-browser"/>
          <p:cNvSpPr>
            <a:spLocks noGrp="1"/>
          </p:cNvSpPr>
          <p:nvPr/>
        </p:nvSpPr>
        <p:spPr>
          <a:xfrm>
            <a:off x="1666875" y="1095375"/>
            <a:ext cx="1428750" cy="838200"/>
          </a:xfrm>
          <a:prstGeom prst="roundRect">
            <a:avLst>
              <a:gd name="adj" fmla="val 9091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6" name="hs-browser-label"/>
          <p:cNvSpPr>
            <a:spLocks noGrp="1"/>
          </p:cNvSpPr>
          <p:nvPr/>
        </p:nvSpPr>
        <p:spPr>
          <a:xfrm>
            <a:off x="1743075" y="1209675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hs-browser-sub"/>
          <p:cNvSpPr>
            <a:spLocks noGrp="1"/>
          </p:cNvSpPr>
          <p:nvPr/>
        </p:nvSpPr>
        <p:spPr>
          <a:xfrm>
            <a:off x="1743075" y="1571625"/>
            <a:ext cx="1276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:50000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hs-web"/>
          <p:cNvSpPr>
            <a:spLocks noGrp="1"/>
          </p:cNvSpPr>
          <p:nvPr/>
        </p:nvSpPr>
        <p:spPr>
          <a:xfrm>
            <a:off x="9096375" y="1095375"/>
            <a:ext cx="1428750" cy="838200"/>
          </a:xfrm>
          <a:prstGeom prst="roundRect">
            <a:avLst>
              <a:gd name="adj" fmla="val 9091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9" name="hs-web-label"/>
          <p:cNvSpPr>
            <a:spLocks noGrp="1"/>
          </p:cNvSpPr>
          <p:nvPr/>
        </p:nvSpPr>
        <p:spPr>
          <a:xfrm>
            <a:off x="9172575" y="1209675"/>
            <a:ext cx="1276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hs-web-sub"/>
          <p:cNvSpPr>
            <a:spLocks noGrp="1"/>
          </p:cNvSpPr>
          <p:nvPr/>
        </p:nvSpPr>
        <p:spPr>
          <a:xfrm>
            <a:off x="9172575" y="1571625"/>
            <a:ext cx="1276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:80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hs-syn"/>
          <p:cNvSpPr>
            <a:spLocks noGrp="1"/>
          </p:cNvSpPr>
          <p:nvPr/>
        </p:nvSpPr>
        <p:spPr>
          <a:xfrm>
            <a:off x="2714625" y="2333625"/>
            <a:ext cx="6477000" cy="2857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2" name="hs-syn-text"/>
          <p:cNvSpPr>
            <a:spLocks noGrp="1"/>
          </p:cNvSpPr>
          <p:nvPr/>
        </p:nvSpPr>
        <p:spPr>
          <a:xfrm>
            <a:off x="4476750" y="20002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   seq=10000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hs-synack"/>
          <p:cNvSpPr>
            <a:spLocks noGrp="1"/>
          </p:cNvSpPr>
          <p:nvPr/>
        </p:nvSpPr>
        <p:spPr>
          <a:xfrm>
            <a:off x="3000375" y="3286125"/>
            <a:ext cx="6477000" cy="285750"/>
          </a:xfrm>
          <a:prstGeom prst="leftArrow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14" name="hs-synack-text"/>
          <p:cNvSpPr>
            <a:spLocks noGrp="1"/>
          </p:cNvSpPr>
          <p:nvPr/>
        </p:nvSpPr>
        <p:spPr>
          <a:xfrm>
            <a:off x="4191000" y="29527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 + ACK   seq=20000</a:t>
            </a:r>
            <a:endParaRPr sz="180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hs-ack"/>
          <p:cNvSpPr>
            <a:spLocks noGrp="1"/>
          </p:cNvSpPr>
          <p:nvPr/>
        </p:nvSpPr>
        <p:spPr>
          <a:xfrm>
            <a:off x="2714625" y="4238625"/>
            <a:ext cx="6477000" cy="285750"/>
          </a:xfrm>
          <a:prstGeom prst="rightArrow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6" name="hs-ack-text"/>
          <p:cNvSpPr>
            <a:spLocks noGrp="1"/>
          </p:cNvSpPr>
          <p:nvPr/>
        </p:nvSpPr>
        <p:spPr>
          <a:xfrm>
            <a:off x="5334000" y="39052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hs-established"/>
          <p:cNvSpPr>
            <a:spLocks noGrp="1"/>
          </p:cNvSpPr>
          <p:nvPr/>
        </p:nvSpPr>
        <p:spPr>
          <a:xfrm>
            <a:off x="4667250" y="5238750"/>
            <a:ext cx="2857500" cy="400050"/>
          </a:xfrm>
          <a:prstGeom prst="roundRect">
            <a:avLst>
              <a:gd name="adj" fmla="val 19048"/>
            </a:avLst>
          </a:prstGeom>
          <a:solidFill>
            <a:srgbClr val="DDF6EE"/>
          </a:solidFill>
          <a:ln w="0">
            <a:solidFill>
              <a:srgbClr val="DDF6EE"/>
            </a:solidFill>
            <a:prstDash val="solid"/>
          </a:ln>
        </p:spPr>
      </p:sp>
      <p:sp>
        <p:nvSpPr>
          <p:cNvPr id="18" name="hs-established-text"/>
          <p:cNvSpPr>
            <a:spLocks noGrp="1"/>
          </p:cNvSpPr>
          <p:nvPr/>
        </p:nvSpPr>
        <p:spPr>
          <a:xfrm>
            <a:off x="4743450" y="527685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ESTABLISHED</a:t>
            </a:r>
            <a:endParaRPr sz="1425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title-8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链路可以丢，TCP 必须救回来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8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oss-b"/>
          <p:cNvSpPr>
            <a:spLocks noGrp="1"/>
          </p:cNvSpPr>
          <p:nvPr/>
        </p:nvSpPr>
        <p:spPr>
          <a:xfrm>
            <a:off x="523875" y="2667000"/>
            <a:ext cx="1571625" cy="952500"/>
          </a:xfrm>
          <a:prstGeom prst="roundRect">
            <a:avLst>
              <a:gd name="adj" fmla="val 8000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4" name="loss-b-label"/>
          <p:cNvSpPr>
            <a:spLocks noGrp="1"/>
          </p:cNvSpPr>
          <p:nvPr/>
        </p:nvSpPr>
        <p:spPr>
          <a:xfrm>
            <a:off x="600075" y="2781300"/>
            <a:ext cx="1419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oss-b-sub"/>
          <p:cNvSpPr>
            <a:spLocks noGrp="1"/>
          </p:cNvSpPr>
          <p:nvPr/>
        </p:nvSpPr>
        <p:spPr>
          <a:xfrm>
            <a:off x="600075" y="3143250"/>
            <a:ext cx="1419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seq=10001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oss-r2"/>
          <p:cNvSpPr>
            <a:spLocks noGrp="1"/>
          </p:cNvSpPr>
          <p:nvPr/>
        </p:nvSpPr>
        <p:spPr>
          <a:xfrm>
            <a:off x="3905250" y="2667000"/>
            <a:ext cx="138112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7" name="loss-r2-label"/>
          <p:cNvSpPr>
            <a:spLocks noGrp="1"/>
          </p:cNvSpPr>
          <p:nvPr/>
        </p:nvSpPr>
        <p:spPr>
          <a:xfrm>
            <a:off x="3981450" y="2781300"/>
            <a:ext cx="1228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R2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oss-r2-sub"/>
          <p:cNvSpPr>
            <a:spLocks noGrp="1"/>
          </p:cNvSpPr>
          <p:nvPr/>
        </p:nvSpPr>
        <p:spPr>
          <a:xfrm>
            <a:off x="3981450" y="3143250"/>
            <a:ext cx="1228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eth1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oss-r3"/>
          <p:cNvSpPr>
            <a:spLocks noGrp="1"/>
          </p:cNvSpPr>
          <p:nvPr/>
        </p:nvSpPr>
        <p:spPr>
          <a:xfrm>
            <a:off x="7000875" y="2667000"/>
            <a:ext cx="1381125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0" name="loss-r3-label"/>
          <p:cNvSpPr>
            <a:spLocks noGrp="1"/>
          </p:cNvSpPr>
          <p:nvPr/>
        </p:nvSpPr>
        <p:spPr>
          <a:xfrm>
            <a:off x="7077075" y="2781300"/>
            <a:ext cx="1228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R3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loss-web"/>
          <p:cNvSpPr>
            <a:spLocks noGrp="1"/>
          </p:cNvSpPr>
          <p:nvPr/>
        </p:nvSpPr>
        <p:spPr>
          <a:xfrm>
            <a:off x="10096500" y="2667000"/>
            <a:ext cx="1524000" cy="952500"/>
          </a:xfrm>
          <a:prstGeom prst="roundRect">
            <a:avLst>
              <a:gd name="adj" fmla="val 8000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12" name="loss-web-label"/>
          <p:cNvSpPr>
            <a:spLocks noGrp="1"/>
          </p:cNvSpPr>
          <p:nvPr/>
        </p:nvSpPr>
        <p:spPr>
          <a:xfrm>
            <a:off x="10172700" y="2781300"/>
            <a:ext cx="1371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oss-web-sub"/>
          <p:cNvSpPr>
            <a:spLocks noGrp="1"/>
          </p:cNvSpPr>
          <p:nvPr/>
        </p:nvSpPr>
        <p:spPr>
          <a:xfrm>
            <a:off x="10172700" y="3143250"/>
            <a:ext cx="1371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56"/>
          </a:bodyPr>
          <a:lstStyle/>
          <a:p>
            <a:pPr algn="ctr">
              <a:def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:80</a:t>
            </a:r>
            <a:endParaRPr sz="1125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oss-send"/>
          <p:cNvSpPr>
            <a:spLocks noGrp="1"/>
          </p:cNvSpPr>
          <p:nvPr/>
        </p:nvSpPr>
        <p:spPr>
          <a:xfrm>
            <a:off x="2238375" y="2952750"/>
            <a:ext cx="1428750" cy="28575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5" name="loss-break-left"/>
          <p:cNvSpPr>
            <a:spLocks noGrp="1"/>
          </p:cNvSpPr>
          <p:nvPr/>
        </p:nvSpPr>
        <p:spPr>
          <a:xfrm>
            <a:off x="5429250" y="2952750"/>
            <a:ext cx="714375" cy="285750"/>
          </a:xfrm>
          <a:prstGeom prst="rightArrow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16" name="loss-break-right"/>
          <p:cNvSpPr>
            <a:spLocks noGrp="1"/>
          </p:cNvSpPr>
          <p:nvPr/>
        </p:nvSpPr>
        <p:spPr>
          <a:xfrm>
            <a:off x="6334125" y="2952750"/>
            <a:ext cx="476250" cy="285750"/>
          </a:xfrm>
          <a:prstGeom prst="rightArrow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17" name="loss-x"/>
          <p:cNvSpPr>
            <a:spLocks noGrp="1"/>
          </p:cNvSpPr>
          <p:nvPr/>
        </p:nvSpPr>
        <p:spPr>
          <a:xfrm>
            <a:off x="6019800" y="2800350"/>
            <a:ext cx="552450" cy="552450"/>
          </a:xfrm>
          <a:prstGeom prst="ellipse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18" name="loss-x-text"/>
          <p:cNvSpPr>
            <a:spLocks noGrp="1"/>
          </p:cNvSpPr>
          <p:nvPr/>
        </p:nvSpPr>
        <p:spPr>
          <a:xfrm>
            <a:off x="6096000" y="28194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881"/>
          </a:bodyPr>
          <a:lstStyle/>
          <a:p>
            <a:pPr algn="ctr">
              <a:def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loss-drop"/>
          <p:cNvSpPr>
            <a:spLocks noGrp="1"/>
          </p:cNvSpPr>
          <p:nvPr/>
        </p:nvSpPr>
        <p:spPr>
          <a:xfrm>
            <a:off x="5810250" y="2333625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</a:t>
            </a:r>
            <a:endParaRPr sz="1650" b="1">
              <a:solidFill>
                <a:srgbClr val="E548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imer"/>
          <p:cNvSpPr>
            <a:spLocks noGrp="1"/>
          </p:cNvSpPr>
          <p:nvPr/>
        </p:nvSpPr>
        <p:spPr>
          <a:xfrm>
            <a:off x="1104900" y="4333875"/>
            <a:ext cx="876300" cy="876300"/>
          </a:xfrm>
          <a:prstGeom prst="ellipse">
            <a:avLst/>
          </a:prstGeom>
          <a:solidFill>
            <a:srgbClr val="FFF1D6"/>
          </a:solidFill>
          <a:ln w="28575">
            <a:solidFill>
              <a:srgbClr val="F59E0B"/>
            </a:solidFill>
            <a:prstDash val="solid"/>
          </a:ln>
        </p:spPr>
      </p:sp>
      <p:sp>
        <p:nvSpPr>
          <p:cNvPr id="21" name="timer-text"/>
          <p:cNvSpPr>
            <a:spLocks noGrp="1"/>
          </p:cNvSpPr>
          <p:nvPr/>
        </p:nvSpPr>
        <p:spPr>
          <a:xfrm>
            <a:off x="1257300" y="4495800"/>
            <a:ext cx="57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063"/>
          </a:bodyPr>
          <a:lstStyle/>
          <a:p>
            <a:pPr algn="ctr">
              <a:defRPr sz="15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5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157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try"/>
          <p:cNvSpPr>
            <a:spLocks noGrp="1"/>
          </p:cNvSpPr>
          <p:nvPr/>
        </p:nvSpPr>
        <p:spPr>
          <a:xfrm>
            <a:off x="2190750" y="4762500"/>
            <a:ext cx="7810500" cy="323850"/>
          </a:xfrm>
          <a:prstGeom prst="rightArrow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23" name="retry-text"/>
          <p:cNvSpPr>
            <a:spLocks noGrp="1"/>
          </p:cNvSpPr>
          <p:nvPr/>
        </p:nvSpPr>
        <p:spPr>
          <a:xfrm>
            <a:off x="4143375" y="433387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RETRANSMIT  seq=10001</a:t>
            </a:r>
            <a:endParaRPr sz="195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loss-caption"/>
          <p:cNvSpPr>
            <a:spLocks noGrp="1"/>
          </p:cNvSpPr>
          <p:nvPr/>
        </p:nvSpPr>
        <p:spPr>
          <a:xfrm>
            <a:off x="4095750" y="5762625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476"/>
          </a:bodyPr>
          <a:lstStyle/>
          <a:p>
            <a:pPr algn="ctr">
              <a:def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不知道丢过包</a:t>
            </a:r>
            <a:endParaRPr sz="21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itle-9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重传到达后，页面终于出现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9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rowser-window"/>
          <p:cNvSpPr>
            <a:spLocks noGrp="1"/>
          </p:cNvSpPr>
          <p:nvPr/>
        </p:nvSpPr>
        <p:spPr>
          <a:xfrm>
            <a:off x="666750" y="1381125"/>
            <a:ext cx="6191250" cy="4429125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4" name="browser-bar"/>
          <p:cNvSpPr>
            <a:spLocks noGrp="1"/>
          </p:cNvSpPr>
          <p:nvPr/>
        </p:nvSpPr>
        <p:spPr>
          <a:xfrm>
            <a:off x="666750" y="1381125"/>
            <a:ext cx="6191250" cy="590550"/>
          </a:xfrm>
          <a:prstGeom prst="rect">
            <a:avLst/>
          </a:prstGeom>
          <a:solidFill>
            <a:srgbClr val="EEF1F4"/>
          </a:solidFill>
          <a:ln w="0">
            <a:solidFill>
              <a:srgbClr val="EEF1F4"/>
            </a:solidFill>
            <a:prstDash val="solid"/>
          </a:ln>
        </p:spPr>
      </p:sp>
      <p:sp>
        <p:nvSpPr>
          <p:cNvPr id="5" name="dot-r"/>
          <p:cNvSpPr>
            <a:spLocks noGrp="1"/>
          </p:cNvSpPr>
          <p:nvPr/>
        </p:nvSpPr>
        <p:spPr>
          <a:xfrm>
            <a:off x="876300" y="1581150"/>
            <a:ext cx="133350" cy="133350"/>
          </a:xfrm>
          <a:prstGeom prst="ellipse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6" name="dot-y"/>
          <p:cNvSpPr>
            <a:spLocks noGrp="1"/>
          </p:cNvSpPr>
          <p:nvPr/>
        </p:nvSpPr>
        <p:spPr>
          <a:xfrm>
            <a:off x="1114425" y="1581150"/>
            <a:ext cx="133350" cy="1333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7" name="dot-g"/>
          <p:cNvSpPr>
            <a:spLocks noGrp="1"/>
          </p:cNvSpPr>
          <p:nvPr/>
        </p:nvSpPr>
        <p:spPr>
          <a:xfrm>
            <a:off x="1352550" y="1581150"/>
            <a:ext cx="133350" cy="133350"/>
          </a:xfrm>
          <a:prstGeom prst="ellipse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8" name="browser-url"/>
          <p:cNvSpPr>
            <a:spLocks noGrp="1"/>
          </p:cNvSpPr>
          <p:nvPr/>
        </p:nvSpPr>
        <p:spPr>
          <a:xfrm>
            <a:off x="1762125" y="149542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www.tinynet.com/index.html</a:t>
            </a:r>
            <a:endParaRPr sz="135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rowser-status"/>
          <p:cNvSpPr>
            <a:spLocks noGrp="1"/>
          </p:cNvSpPr>
          <p:nvPr/>
        </p:nvSpPr>
        <p:spPr>
          <a:xfrm>
            <a:off x="1123950" y="2524125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OK</a:t>
            </a:r>
            <a:endParaRPr sz="225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rowser-page"/>
          <p:cNvSpPr>
            <a:spLocks noGrp="1"/>
          </p:cNvSpPr>
          <p:nvPr/>
        </p:nvSpPr>
        <p:spPr>
          <a:xfrm>
            <a:off x="1123950" y="3333750"/>
            <a:ext cx="504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Hello TinyNet!</a:t>
            </a:r>
            <a:endParaRPr sz="36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rowser-bytes"/>
          <p:cNvSpPr>
            <a:spLocks noGrp="1"/>
          </p:cNvSpPr>
          <p:nvPr/>
        </p:nvSpPr>
        <p:spPr>
          <a:xfrm>
            <a:off x="1123950" y="4762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Response  →  render</a:t>
            </a:r>
            <a:endParaRPr sz="165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lose-title"/>
          <p:cNvSpPr>
            <a:spLocks noGrp="1"/>
          </p:cNvSpPr>
          <p:nvPr/>
        </p:nvSpPr>
        <p:spPr>
          <a:xfrm>
            <a:off x="7858125" y="15240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随后关闭</a:t>
            </a:r>
            <a:endParaRPr sz="22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lose-0"/>
          <p:cNvSpPr>
            <a:spLocks noGrp="1"/>
          </p:cNvSpPr>
          <p:nvPr/>
        </p:nvSpPr>
        <p:spPr>
          <a:xfrm>
            <a:off x="7858125" y="2381250"/>
            <a:ext cx="2619375" cy="247650"/>
          </a:xfrm>
          <a:prstGeom prst="rightArrow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14" name="close-label-0"/>
          <p:cNvSpPr>
            <a:spLocks noGrp="1"/>
          </p:cNvSpPr>
          <p:nvPr/>
        </p:nvSpPr>
        <p:spPr>
          <a:xfrm>
            <a:off x="8905875" y="20574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</a:t>
            </a:r>
            <a:endParaRPr sz="1500" b="1">
              <a:solidFill>
                <a:srgbClr val="E548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lose-1"/>
          <p:cNvSpPr>
            <a:spLocks noGrp="1"/>
          </p:cNvSpPr>
          <p:nvPr/>
        </p:nvSpPr>
        <p:spPr>
          <a:xfrm>
            <a:off x="7858125" y="3162300"/>
            <a:ext cx="2619375" cy="247650"/>
          </a:xfrm>
          <a:prstGeom prst="leftArrow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6" name="close-label-1"/>
          <p:cNvSpPr>
            <a:spLocks noGrp="1"/>
          </p:cNvSpPr>
          <p:nvPr/>
        </p:nvSpPr>
        <p:spPr>
          <a:xfrm>
            <a:off x="8905875" y="28384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lose-2"/>
          <p:cNvSpPr>
            <a:spLocks noGrp="1"/>
          </p:cNvSpPr>
          <p:nvPr/>
        </p:nvSpPr>
        <p:spPr>
          <a:xfrm>
            <a:off x="7858125" y="3943350"/>
            <a:ext cx="2619375" cy="247650"/>
          </a:xfrm>
          <a:prstGeom prst="rightArrow">
            <a:avLst/>
          </a:prstGeom>
          <a:solidFill>
            <a:srgbClr val="E5484D"/>
          </a:solidFill>
          <a:ln w="0">
            <a:solidFill>
              <a:srgbClr val="E5484D"/>
            </a:solidFill>
            <a:prstDash val="solid"/>
          </a:ln>
        </p:spPr>
      </p:sp>
      <p:sp>
        <p:nvSpPr>
          <p:cNvPr id="18" name="close-label-2"/>
          <p:cNvSpPr>
            <a:spLocks noGrp="1"/>
          </p:cNvSpPr>
          <p:nvPr/>
        </p:nvSpPr>
        <p:spPr>
          <a:xfrm>
            <a:off x="8905875" y="36195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548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</a:t>
            </a:r>
            <a:endParaRPr sz="1500" b="1">
              <a:solidFill>
                <a:srgbClr val="E548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lose-3"/>
          <p:cNvSpPr>
            <a:spLocks noGrp="1"/>
          </p:cNvSpPr>
          <p:nvPr/>
        </p:nvSpPr>
        <p:spPr>
          <a:xfrm>
            <a:off x="7858125" y="4724400"/>
            <a:ext cx="2619375" cy="247650"/>
          </a:xfrm>
          <a:prstGeom prst="leftArrow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0" name="close-label-3"/>
          <p:cNvSpPr>
            <a:spLocks noGrp="1"/>
          </p:cNvSpPr>
          <p:nvPr/>
        </p:nvSpPr>
        <p:spPr>
          <a:xfrm>
            <a:off x="8905875" y="44005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endParaRPr sz="15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losed"/>
          <p:cNvSpPr>
            <a:spLocks noGrp="1"/>
          </p:cNvSpPr>
          <p:nvPr/>
        </p:nvSpPr>
        <p:spPr>
          <a:xfrm>
            <a:off x="8239125" y="5572125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DDF6EE"/>
          </a:solidFill>
          <a:ln w="0">
            <a:solidFill>
              <a:srgbClr val="DDF6EE"/>
            </a:solidFill>
            <a:prstDash val="solid"/>
          </a:ln>
        </p:spPr>
      </p:sp>
      <p:sp>
        <p:nvSpPr>
          <p:cNvPr id="22" name="closed-text"/>
          <p:cNvSpPr>
            <a:spLocks noGrp="1"/>
          </p:cNvSpPr>
          <p:nvPr/>
        </p:nvSpPr>
        <p:spPr>
          <a:xfrm>
            <a:off x="8315325" y="5610225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CLOSED</a:t>
            </a:r>
            <a:endParaRPr sz="1425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title-10"/>
          <p:cNvSpPr>
            <a:spLocks noGrp="1"/>
          </p:cNvSpPr>
          <p:nvPr/>
        </p:nvSpPr>
        <p:spPr>
          <a:xfrm>
            <a:off x="514350" y="2857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EventQueue 让虚拟网络自己前进</a:t>
            </a:r>
            <a:endParaRPr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10"/>
          <p:cNvSpPr>
            <a:spLocks noGrp="1"/>
          </p:cNvSpPr>
          <p:nvPr/>
        </p:nvSpPr>
        <p:spPr>
          <a:xfrm>
            <a:off x="11287125" y="333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8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>
              <a:solidFill>
                <a:srgbClr val="6873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queue-ring"/>
          <p:cNvSpPr>
            <a:spLocks noGrp="1"/>
          </p:cNvSpPr>
          <p:nvPr/>
        </p:nvSpPr>
        <p:spPr>
          <a:xfrm>
            <a:off x="3952875" y="1428750"/>
            <a:ext cx="4286250" cy="4286250"/>
          </a:xfrm>
          <a:prstGeom prst="ellipse">
            <a:avLst/>
          </a:prstGeom>
          <a:solidFill>
            <a:srgbClr val="FFFFFF"/>
          </a:solidFill>
          <a:ln w="95250">
            <a:solidFill>
              <a:srgbClr val="3D8DFF"/>
            </a:solidFill>
            <a:prstDash val="solid"/>
          </a:ln>
        </p:spPr>
      </p:sp>
      <p:sp>
        <p:nvSpPr>
          <p:cNvPr id="4" name="queue-center"/>
          <p:cNvSpPr>
            <a:spLocks noGrp="1"/>
          </p:cNvSpPr>
          <p:nvPr/>
        </p:nvSpPr>
        <p:spPr>
          <a:xfrm>
            <a:off x="4953000" y="2428875"/>
            <a:ext cx="2286000" cy="2286000"/>
          </a:xfrm>
          <a:prstGeom prst="ellipse">
            <a:avLst/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5" name="queue-center-text"/>
          <p:cNvSpPr>
            <a:spLocks noGrp="1"/>
          </p:cNvSpPr>
          <p:nvPr/>
        </p:nvSpPr>
        <p:spPr>
          <a:xfrm>
            <a:off x="5286375" y="3048000"/>
            <a:ext cx="1619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取最早</a:t>
            </a:r>
            <a:endParaRPr sz="25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</a:t>
            </a:r>
            <a:endParaRPr sz="25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eue-node-0"/>
          <p:cNvSpPr>
            <a:spLocks noGrp="1"/>
          </p:cNvSpPr>
          <p:nvPr/>
        </p:nvSpPr>
        <p:spPr>
          <a:xfrm>
            <a:off x="1333500" y="2095500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ECF8FD"/>
          </a:solidFill>
          <a:ln w="19050">
            <a:solidFill>
              <a:srgbClr val="3D8DFF"/>
            </a:solidFill>
            <a:prstDash val="solid"/>
          </a:ln>
        </p:spPr>
      </p:sp>
      <p:sp>
        <p:nvSpPr>
          <p:cNvPr id="7" name="queue-node-0-text"/>
          <p:cNvSpPr>
            <a:spLocks noGrp="1"/>
          </p:cNvSpPr>
          <p:nvPr/>
        </p:nvSpPr>
        <p:spPr>
          <a:xfrm>
            <a:off x="1476375" y="228600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Arrival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queue-node-1"/>
          <p:cNvSpPr>
            <a:spLocks noGrp="1"/>
          </p:cNvSpPr>
          <p:nvPr/>
        </p:nvSpPr>
        <p:spPr>
          <a:xfrm>
            <a:off x="9144000" y="2095500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FFF1D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queue-node-1-text"/>
          <p:cNvSpPr>
            <a:spLocks noGrp="1"/>
          </p:cNvSpPr>
          <p:nvPr/>
        </p:nvSpPr>
        <p:spPr>
          <a:xfrm>
            <a:off x="9286875" y="228600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Timer</a:t>
            </a:r>
            <a:endParaRPr sz="1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queue-node-2"/>
          <p:cNvSpPr>
            <a:spLocks noGrp="1"/>
          </p:cNvSpPr>
          <p:nvPr/>
        </p:nvSpPr>
        <p:spPr>
          <a:xfrm>
            <a:off x="1524000" y="4762500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EEF1F4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11" name="queue-node-2-text"/>
          <p:cNvSpPr>
            <a:spLocks noGrp="1"/>
          </p:cNvSpPr>
          <p:nvPr/>
        </p:nvSpPr>
        <p:spPr>
          <a:xfrm>
            <a:off x="1666875" y="495300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queue-node-3"/>
          <p:cNvSpPr>
            <a:spLocks noGrp="1"/>
          </p:cNvSpPr>
          <p:nvPr/>
        </p:nvSpPr>
        <p:spPr>
          <a:xfrm>
            <a:off x="8953500" y="4762500"/>
            <a:ext cx="1619250" cy="1047750"/>
          </a:xfrm>
          <a:prstGeom prst="roundRect">
            <a:avLst>
              <a:gd name="adj" fmla="val 7273"/>
            </a:avLst>
          </a:prstGeom>
          <a:solidFill>
            <a:srgbClr val="DDF6EE"/>
          </a:solidFill>
          <a:ln w="19050">
            <a:solidFill>
              <a:srgbClr val="21A179"/>
            </a:solidFill>
            <a:prstDash val="solid"/>
          </a:ln>
        </p:spPr>
      </p:sp>
      <p:sp>
        <p:nvSpPr>
          <p:cNvPr id="13" name="queue-node-3-text"/>
          <p:cNvSpPr>
            <a:spLocks noGrp="1"/>
          </p:cNvSpPr>
          <p:nvPr/>
        </p:nvSpPr>
        <p:spPr>
          <a:xfrm>
            <a:off x="9096375" y="495300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产生新</a:t>
            </a:r>
            <a:endParaRPr sz="180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1A1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</a:t>
            </a:r>
            <a:endParaRPr sz="1800" b="1">
              <a:solidFill>
                <a:srgbClr val="21A1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queue-a1"/>
          <p:cNvSpPr>
            <a:spLocks noGrp="1"/>
          </p:cNvSpPr>
          <p:nvPr/>
        </p:nvSpPr>
        <p:spPr>
          <a:xfrm>
            <a:off x="3000375" y="2476500"/>
            <a:ext cx="857250" cy="238125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5" name="queue-a2"/>
          <p:cNvSpPr>
            <a:spLocks noGrp="1"/>
          </p:cNvSpPr>
          <p:nvPr/>
        </p:nvSpPr>
        <p:spPr>
          <a:xfrm>
            <a:off x="8239125" y="2476500"/>
            <a:ext cx="762000" cy="238125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6" name="queue-a3"/>
          <p:cNvSpPr>
            <a:spLocks noGrp="1"/>
          </p:cNvSpPr>
          <p:nvPr/>
        </p:nvSpPr>
        <p:spPr>
          <a:xfrm>
            <a:off x="3000375" y="4762500"/>
            <a:ext cx="857250" cy="190500"/>
          </a:xfrm>
          <a:prstGeom prst="rightArrow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7" name="queue-a4"/>
          <p:cNvSpPr>
            <a:spLocks noGrp="1"/>
          </p:cNvSpPr>
          <p:nvPr/>
        </p:nvSpPr>
        <p:spPr>
          <a:xfrm>
            <a:off x="8239125" y="4953000"/>
            <a:ext cx="619125" cy="238125"/>
          </a:xfrm>
          <a:prstGeom prst="rightArrow">
            <a:avLst/>
          </a:prstGeom>
          <a:solidFill>
            <a:srgbClr val="21A179"/>
          </a:solidFill>
          <a:ln w="0">
            <a:solidFill>
              <a:srgbClr val="21A179"/>
            </a:solidFill>
            <a:prstDash val="solid"/>
          </a:ln>
        </p:spPr>
      </p:sp>
      <p:sp>
        <p:nvSpPr>
          <p:cNvPr id="18" name="queue-caption"/>
          <p:cNvSpPr>
            <a:spLocks noGrp="1"/>
          </p:cNvSpPr>
          <p:nvPr/>
        </p:nvSpPr>
        <p:spPr>
          <a:xfrm>
            <a:off x="3667125" y="60007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827"/>
          </a:bodyPr>
          <a:lstStyle/>
          <a:p>
            <a:pPr algn="ctr">
              <a:def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internet.run() 直到队列为空</a:t>
            </a:r>
            <a:endParaRPr sz="20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end-kicker"/>
          <p:cNvSpPr>
            <a:spLocks noGrp="1"/>
          </p:cNvSpPr>
          <p:nvPr/>
        </p:nvSpPr>
        <p:spPr>
          <a:xfrm>
            <a:off x="571500" y="5238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TinyNet v1.0</a:t>
            </a:r>
            <a:endParaRPr sz="1575" b="1">
              <a:solidFill>
                <a:srgbClr val="D0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end-title"/>
          <p:cNvSpPr>
            <a:spLocks noGrp="1"/>
          </p:cNvSpPr>
          <p:nvPr/>
        </p:nvSpPr>
        <p:spPr>
          <a:xfrm>
            <a:off x="571500" y="1333500"/>
            <a:ext cx="7239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一个应用意图</a:t>
            </a:r>
            <a:endParaRPr sz="4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驱动整个 Mini Internet</a:t>
            </a:r>
            <a:endParaRPr sz="4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nd-v-0"/>
          <p:cNvSpPr>
            <a:spLocks noGrp="1"/>
          </p:cNvSpPr>
          <p:nvPr/>
        </p:nvSpPr>
        <p:spPr>
          <a:xfrm>
            <a:off x="619125" y="3667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4" name="end-v-0-text"/>
          <p:cNvSpPr>
            <a:spLocks noGrp="1"/>
          </p:cNvSpPr>
          <p:nvPr/>
        </p:nvSpPr>
        <p:spPr>
          <a:xfrm>
            <a:off x="733425" y="374332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v0.1 节点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nd-v-1"/>
          <p:cNvSpPr>
            <a:spLocks noGrp="1"/>
          </p:cNvSpPr>
          <p:nvPr/>
        </p:nvSpPr>
        <p:spPr>
          <a:xfrm>
            <a:off x="3333750" y="3667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6" name="end-v-1-text"/>
          <p:cNvSpPr>
            <a:spLocks noGrp="1"/>
          </p:cNvSpPr>
          <p:nvPr/>
        </p:nvSpPr>
        <p:spPr>
          <a:xfrm>
            <a:off x="3448050" y="374332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v0.2 以太网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nd-v-2"/>
          <p:cNvSpPr>
            <a:spLocks noGrp="1"/>
          </p:cNvSpPr>
          <p:nvPr/>
        </p:nvSpPr>
        <p:spPr>
          <a:xfrm>
            <a:off x="6048375" y="3667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8" name="end-v-2-text"/>
          <p:cNvSpPr>
            <a:spLocks noGrp="1"/>
          </p:cNvSpPr>
          <p:nvPr/>
        </p:nvSpPr>
        <p:spPr>
          <a:xfrm>
            <a:off x="6162675" y="374332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v0.3 IP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nd-v-3"/>
          <p:cNvSpPr>
            <a:spLocks noGrp="1"/>
          </p:cNvSpPr>
          <p:nvPr/>
        </p:nvSpPr>
        <p:spPr>
          <a:xfrm>
            <a:off x="8763000" y="3667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10" name="end-v-3-text"/>
          <p:cNvSpPr>
            <a:spLocks noGrp="1"/>
          </p:cNvSpPr>
          <p:nvPr/>
        </p:nvSpPr>
        <p:spPr>
          <a:xfrm>
            <a:off x="8877300" y="374332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v0.4 可靠传输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nd-v-4"/>
          <p:cNvSpPr>
            <a:spLocks noGrp="1"/>
          </p:cNvSpPr>
          <p:nvPr/>
        </p:nvSpPr>
        <p:spPr>
          <a:xfrm>
            <a:off x="619125" y="44481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12" name="end-v-4-text"/>
          <p:cNvSpPr>
            <a:spLocks noGrp="1"/>
          </p:cNvSpPr>
          <p:nvPr/>
        </p:nvSpPr>
        <p:spPr>
          <a:xfrm>
            <a:off x="733425" y="452437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v0.5 TCP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nd-v-5"/>
          <p:cNvSpPr>
            <a:spLocks noGrp="1"/>
          </p:cNvSpPr>
          <p:nvPr/>
        </p:nvSpPr>
        <p:spPr>
          <a:xfrm>
            <a:off x="3333750" y="44481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1F2A44"/>
          </a:solidFill>
          <a:ln w="9525">
            <a:solidFill>
              <a:srgbClr val="34415C"/>
            </a:solidFill>
            <a:prstDash val="solid"/>
          </a:ln>
        </p:spPr>
      </p:sp>
      <p:sp>
        <p:nvSpPr>
          <p:cNvPr id="14" name="end-v-5-text"/>
          <p:cNvSpPr>
            <a:spLocks noGrp="1"/>
          </p:cNvSpPr>
          <p:nvPr/>
        </p:nvSpPr>
        <p:spPr>
          <a:xfrm>
            <a:off x="3448050" y="452437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v0.6 ARP/ICMP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nd-v-6"/>
          <p:cNvSpPr>
            <a:spLocks noGrp="1"/>
          </p:cNvSpPr>
          <p:nvPr/>
        </p:nvSpPr>
        <p:spPr>
          <a:xfrm>
            <a:off x="6048375" y="44481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end-v-6-text"/>
          <p:cNvSpPr>
            <a:spLocks noGrp="1"/>
          </p:cNvSpPr>
          <p:nvPr/>
        </p:nvSpPr>
        <p:spPr>
          <a:xfrm>
            <a:off x="6162675" y="4524375"/>
            <a:ext cx="2105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v0.7 DNS/HTTP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nd-result"/>
          <p:cNvSpPr>
            <a:spLocks noGrp="1"/>
          </p:cNvSpPr>
          <p:nvPr/>
        </p:nvSpPr>
        <p:spPr>
          <a:xfrm>
            <a:off x="714375" y="5762625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0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DNS ✓   ARP ✓   ROUTE ✓   TCP ✓   HTTP ✓   RETRY ✓   CLOSE ✓</a:t>
            </a:r>
            <a:endParaRPr sz="1800" b="1">
              <a:solidFill>
                <a:srgbClr val="D0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WPS 演示</Application>
  <PresentationFormat>Converted Presentation</PresentationFormat>
  <Paragraphs>269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Terry</cp:lastModifiedBy>
  <cp:revision>3</cp:revision>
  <dcterms:created xsi:type="dcterms:W3CDTF">2026-08-21T03:55:10Z</dcterms:created>
  <dcterms:modified xsi:type="dcterms:W3CDTF">2026-08-21T03:55:33Z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3293FC9FBCA34E26AE8DF5D7450E78C8_12</vt:lpwstr>
  </property>
  <property fmtid="{D5CDD505-2E9C-101B-9397-08002B2CF9AE}" pid="3" name="KSOProductBuildVer">
    <vt:lpwstr>2052-12.1.0.25225</vt:lpwstr>
  </property>
</Properties>
</file>